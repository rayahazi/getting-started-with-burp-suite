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Assistant"/>
      <p:regular r:id="rId28"/>
      <p:bold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ssistant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ssistan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3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3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" y="-1114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34648" y="3791842"/>
            <a:ext cx="9122702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480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צעדים ראשונים עם Burp Suite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167187" y="4782442"/>
            <a:ext cx="385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210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כנס Hackeriot 202</a:t>
            </a:r>
            <a:r>
              <a:rPr lang="iw" sz="2100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6</a:t>
            </a:r>
            <a:r>
              <a:rPr b="0" i="0" lang="iw" sz="210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 | תל אביב, ישראל</a:t>
            </a:r>
            <a:endParaRPr/>
          </a:p>
        </p:txBody>
      </p:sp>
      <p:pic>
        <p:nvPicPr>
          <p:cNvPr id="87" name="Google Shape;87;p13" title="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7216" y="1763775"/>
            <a:ext cx="1837574" cy="183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812" y="1823337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129675" y="1999440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רעיה קליין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129675" y="2542365"/>
            <a:ext cx="5038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650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מרצה, בודקת חדירות ומהנדסת אבטחת יישומים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129675" y="3163276"/>
            <a:ext cx="52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800" u="none" cap="none" strike="noStrike">
                <a:solidFill>
                  <a:srgbClr val="34D399"/>
                </a:solidFill>
                <a:latin typeface="Roboto Mono"/>
                <a:ea typeface="Roboto Mono"/>
                <a:cs typeface="Roboto Mono"/>
                <a:sym typeface="Roboto Mono"/>
              </a:rPr>
              <a:t>המסע שלי: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129675" y="3563326"/>
            <a:ext cx="50388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התחלתי את דרכי באקדמיה, למדתי ואז הרצתי בתחומי סייבר ותכנות. אבל רציתי לעסוק במה שבאמת ריגש אותי - אבטחת מידע, אז עשיתי את המעבר ל - "עולם האמיתי" והפכתי לבודקת חדירות</a:t>
            </a:r>
            <a:r>
              <a:rPr lang="iw" sz="1650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ובהמשך לצד השני של המטבע כמגנה על יישומים בחברת FullPath. 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39077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מי אני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title="Linkedin imag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5546" y="1917784"/>
            <a:ext cx="2976676" cy="297667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671225" y="4273525"/>
            <a:ext cx="7130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633811"/>
            <a:ext cx="3295650" cy="3405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175" y="2633811"/>
            <a:ext cx="3295650" cy="34057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633811"/>
            <a:ext cx="3295650" cy="340578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71525" y="1856630"/>
            <a:ext cx="10649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9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זה לא רק כלי, זו מעבדת אבטחת הרשת האישית שלכם.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952700" y="3957786"/>
            <a:ext cx="164004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זכוכית מגדלת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20100" y="4500711"/>
            <a:ext cx="2705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הכלי המושלם לניתוח וצפייה מדוקדקת בכל תעבורת האינטרנט שעוברת דרככם.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313402" y="3957786"/>
            <a:ext cx="156519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אולר שוויצרי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743450" y="4500711"/>
            <a:ext cx="2705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הסט הסטנדרטי וההכרחי בארגז הכלים של כל האקר יישומי רשת ומפתח אבטחה.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595024" y="3957786"/>
            <a:ext cx="164879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שליטה מלאה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66800" y="4500711"/>
            <a:ext cx="27051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במילים פשוטות: הכלי נותן לכם יכולת ליירט ולשנות את התקשורת בין הדפדפן לאינטרנט.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05950" y="3100536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9300" y="3100536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85975" y="3100536"/>
            <a:ext cx="666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מה זה Burp Suite?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44129"/>
            <a:ext cx="5038725" cy="42079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844129"/>
            <a:ext cx="5038725" cy="420796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772275" y="2234654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1. Burp Suite Community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772275" y="2777579"/>
            <a:ext cx="4257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זוהי הגרסה החינמית של Burp Suite. היא מכילה את כל הכלים הבסיסיים שאנחנו צריכים לסדנה הזו.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772275" y="3659534"/>
            <a:ext cx="4257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" sz="1650">
                <a:solidFill>
                  <a:srgbClr val="3B82F6"/>
                </a:solidFill>
                <a:latin typeface="Assistant"/>
                <a:ea typeface="Assistant"/>
                <a:cs typeface="Assistant"/>
                <a:sym typeface="Assistant"/>
              </a:rPr>
              <a:t>https://portswigger.net/burp/releases/professional-community-2026-7-3?requestededition=community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162050" y="2234654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2. OWASP Juice Shop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162050" y="2777579"/>
            <a:ext cx="4257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זהו "חדר כושר" להאקרים - אתר אינטרנט שבנו אותו בכוונה עם חורי אבטחה, כדי שנוכל להתאמן עליו באופן חוקי ובטוח.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1162050" y="3469034"/>
            <a:ext cx="4257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דרישות: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Node.js, Git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התקנות 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95760"/>
            <a:ext cx="5038725" cy="2472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1795760"/>
            <a:ext cx="5038725" cy="2472332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527702" y="4553842"/>
            <a:ext cx="303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800" u="none" cap="none" strike="noStrike">
                <a:solidFill>
                  <a:srgbClr val="34D399"/>
                </a:solidFill>
                <a:latin typeface="Roboto Mono"/>
                <a:ea typeface="Roboto Mono"/>
                <a:cs typeface="Roboto Mono"/>
                <a:sym typeface="Roboto Mono"/>
              </a:rPr>
              <a:t>אז איך עושים את זה בפועל?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72275" y="2186285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השיחה הרגילה (בלי Burp)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72275" y="2729210"/>
            <a:ext cx="4257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בדרך כלל, הדפדפן שלכם מנהל שיחה ישירה ופרטית עם שרת האתר, כמו שליחת מכתב בדואר ישירות לנמען.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1162050" y="2186285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השיחה עם Burp (אדם באמצע)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1162050" y="2729210"/>
            <a:ext cx="4257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כשאנחנו מגדירים פרוקסי, אנחנו מכריחים את השיחה לעבור דרכו. "כל מכתב שאני שולח, תעביר דרך Burp שיקרא אותו, ואולי ישנה אותו, לפני שימשיך".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71525" y="5049142"/>
            <a:ext cx="1031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הדרך למתקדמים: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שימוש בדפדפן הרגיל (כרום/פיירפוקס) יחד עם תוסף (FoxyProxy) והתקנת תעודת אבטחה מיוחדת.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71525" y="5495524"/>
            <a:ext cx="10315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הדרך הקלה (מומלץ):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שימוש בדפדפן המובנה של Burp שמגיע כבר מוגדר ומוכן לעבודה בלחיצת כפתור.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11172825" y="5049142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הגדרת פרוקסי (איך Burp עובד)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450" y="2391900"/>
            <a:ext cx="5612450" cy="315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6368200" y="2483953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הדרך המהירה להתחיל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68200" y="3026878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הדפדפן המובנה מגיע מוגדר מראש. אין שום צורך להגדיר פרוקסי, פורטים או להתקין תעודת אבטחה ידנית.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368200" y="3840075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פשוט עברו ללשונית ה-Proxy, לחצו על הכפתור </a:t>
            </a: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"Open Browser"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ואתם מוכנים לעבודה.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2. שימוש בדפדפן המובנה של Burp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20128" t="0"/>
          <a:stretch/>
        </p:blipFill>
        <p:spPr>
          <a:xfrm>
            <a:off x="708425" y="2547025"/>
            <a:ext cx="5290800" cy="2857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7163" y="4218100"/>
            <a:ext cx="9057675" cy="198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6417913" y="1708173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פתחו את הדפדפן של Burp ונווטו ל-Juice Shop (בכתובת localhost:3000).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417913" y="2630758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ב-Burp, עברו ללשונית </a:t>
            </a: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Proxy -&gt; HTTP history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068888" y="1708169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6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HTTP history: יומן המכיל את כל בקשות הרשת שהדפדפן שלכם של</a:t>
            </a:r>
            <a:r>
              <a:rPr i="1" lang="iw" sz="1650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ח. 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417913" y="3087880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לחצו על אזורים שונים באתר וצפו בזמן אמת בתעבורה המופיעה בטבלה.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1172825" y="2530673"/>
            <a:ext cx="24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1172825" y="3453258"/>
            <a:ext cx="2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1172825" y="4504580"/>
            <a:ext cx="2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239077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צפייה בתעבורה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7663" y="4345523"/>
            <a:ext cx="8846901" cy="169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6381750" y="4680346"/>
            <a:ext cx="52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800" u="none" cap="none" strike="noStrike">
                <a:solidFill>
                  <a:srgbClr val="34D399"/>
                </a:solidFill>
                <a:latin typeface="Roboto Mono"/>
                <a:ea typeface="Roboto Mono"/>
                <a:cs typeface="Roboto Mono"/>
                <a:sym typeface="Roboto Mono"/>
              </a:rPr>
              <a:t>המטרה שלנו: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381750" y="5080396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לעקוף את ההגבלות של ממשק המשתמש כדי להשתלט על השרת ולפרוץ את הכספת.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81750" y="2002631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ממשק משתמש (חזית):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החלק שרץ בדפדפן - מה שרואים ולוחצים עליו.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381750" y="2863453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שרת (המוח):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המחשב שמריץ את הלוגיקה של האתר ומעבד את הבקשות.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381750" y="3724275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מסד נתונים (הכספת):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המקום בו מאוחסן כל המידע היקר, כמו משתמשים וסיסמאות.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1172825" y="2002631"/>
            <a:ext cx="24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1172825" y="2863453"/>
            <a:ext cx="24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11172825" y="3724275"/>
            <a:ext cx="247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239077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איך אתר אינטרנט עובד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800" y="2002625"/>
            <a:ext cx="5841901" cy="347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225" y="2673000"/>
            <a:ext cx="6184350" cy="27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6381750" y="2664321"/>
            <a:ext cx="5038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HTTP היא השפה שבה דפדפנים ושרתים "מדברים" זה עם זה.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6381750" y="3129111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GET: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לקרוא/לראות מידע (לדוגמה: טעינת פרופיל)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381750" y="3654772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POST: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ליצור מידע חדש (לדוגמה: הרשמה לאתר)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81750" y="4180433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PUT: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לעדכן מידע קיים (לדוגמה: שינוי תמונת פרופיל)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381750" y="4706094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DELETE: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למחוק מידע (לדוגמה: מחיקת תגובה)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1172825" y="3129111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1172750" y="3745615"/>
            <a:ext cx="2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11172825" y="4180433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11172825" y="4706094"/>
            <a:ext cx="2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239077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מתודות בקשת HTTP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4" name="Google Shape;2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3450" y="2804475"/>
            <a:ext cx="5925356" cy="24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52612"/>
            <a:ext cx="503872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6381750" y="2553890"/>
            <a:ext cx="47052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תוכנה לא מעודכנת:</a:t>
            </a: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חפשו רכיבים ישנים. </a:t>
            </a:r>
            <a:br>
              <a:rPr b="0" i="0" lang="i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iw" sz="1425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כמו מנעול ישן שפרצו כבר, תוכנה ישנה מכילה חולשות ידועות.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381750" y="3251001"/>
            <a:ext cx="47052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קלט זדוני:</a:t>
            </a: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שליחת פקודות לא צפויות. </a:t>
            </a:r>
            <a:br>
              <a:rPr b="0" i="0" lang="i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iw" sz="1425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כמו להכניס קוד סודי למכונת שתייה כדי לקבל הכל בחינם.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381750" y="3948112"/>
            <a:ext cx="47052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בקרת גישה שבורה:</a:t>
            </a: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גישה למידע אסור. </a:t>
            </a:r>
            <a:br>
              <a:rPr b="0" i="0" lang="i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iw" sz="1425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כמו כרטיס חדר מלון שפותח בטעות את חדר הבקרה הראשי.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381750" y="4645223"/>
            <a:ext cx="47052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10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תוכן מוסתר:</a:t>
            </a: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קבצים סודיים שנשכחו. </a:t>
            </a:r>
            <a:br>
              <a:rPr b="0" i="0" lang="iw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iw" sz="1425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פנקס מהנדס שנשאר בספרייה ויש בו סיסמאות.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1210925" y="2553890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11210925" y="3251001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11210925" y="3948112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1210925" y="4645223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239077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רשימת המטרות של ההאקר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2979" y="2188825"/>
            <a:ext cx="4555826" cy="351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92722"/>
            <a:ext cx="5038725" cy="2910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492722"/>
            <a:ext cx="5038725" cy="291063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6772275" y="2883247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Repeater (המשחזר)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772275" y="3426172"/>
            <a:ext cx="4257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כלי לעבודה ידנית ומדויקת.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772275" y="4047083"/>
            <a:ext cx="4257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דמיינו את ה-Repeater כמו עורך טקסט לבקשת רשת אחת. אתם יכולים לקחת בקשה, לשנות בה פרט קטן (למשל, מספר זיהוי), ולשלוח אותה שוב ושוב כדי לראות איך השרת מגיב.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162050" y="2883247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Intruder (הפולש)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1162050" y="3426172"/>
            <a:ext cx="4257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כלי לאוטומציה והתקפות כוחניות.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162050" y="4047083"/>
            <a:ext cx="4257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דמיינו רובוט שמנסה אלפי מפתחות שונים על מנעול במהירות שיא. אנחנו נותנים לו רשימה של "מפתחות" (סיסמאות או נתיבים), והוא מנסה את כולם אוטומטית.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239077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הכלים המרכזיים שלנו למעבדה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8125" y="3188050"/>
            <a:ext cx="6500225" cy="3460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408875" y="1914315"/>
            <a:ext cx="52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800" u="none" cap="none" strike="noStrike">
                <a:solidFill>
                  <a:srgbClr val="34D399"/>
                </a:solidFill>
                <a:latin typeface="Roboto Mono"/>
                <a:ea typeface="Roboto Mono"/>
                <a:cs typeface="Roboto Mono"/>
                <a:sym typeface="Roboto Mono"/>
              </a:rPr>
              <a:t>המטרה: למצוא דפים וקבצים נסתרים.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6408875" y="2314365"/>
            <a:ext cx="5038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נשתמש ב-</a:t>
            </a: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Intruder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כדי לשלוח בקשות מרובות במהירות.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519438" y="1914326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ההכנה: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90613" y="2314375"/>
            <a:ext cx="5467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אנחנו לוקחים בקשה רגילה, מסמנים את החלק שאנחנו רוצים לשנות (שם הקובץ בכתובת), ומורים ל-Intruder להחליף אותו בכל אחד מהפריטים ברשימת ה-Payloads שלנו.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מעבדה 1: Directory Enumeration (שלב 1)</a:t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1046" y="3287645"/>
            <a:ext cx="6212404" cy="3202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575" y="2995024"/>
            <a:ext cx="7566799" cy="33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6395300" y="1595078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התוצאות: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6395300" y="2138003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לאחר הרצת ההתקפה (Start Attack), אנו בוחנים את הטבלה עם התוצאות.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123050" y="2138000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בקשות שחזרו עם קוד סטטוס </a:t>
            </a: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200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(שמשמעותו "הצלחה") מצביעות על כך שמצאנו קובץ או תיקייה קיימים שחבויים בשרת!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מעבדה 1: Directory Enumeration (שלב 2)</a:t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2375" y="3120025"/>
            <a:ext cx="7364002" cy="31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53600" y="3281362"/>
            <a:ext cx="117157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1266825" y="2767756"/>
            <a:ext cx="8310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אתגר: לפרוץ לחשבון המנהל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1266825" y="3310681"/>
            <a:ext cx="791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כעת כשאתם מבינים איך Intruder עובד, נסו להשתמש בו כדי לבצע מתקפת </a:t>
            </a: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Brute Force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על טופס ההתחברות.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1266825" y="4123878"/>
            <a:ext cx="791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ניסיון שיטתי של כל הסיסמאות האפשריות עד שנמצאת הנכונה.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1266825" y="4588668"/>
            <a:ext cx="791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המטרה: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לנחש את הסיסמה של המשתמש admin@juice-sh.op בעזרת רשימת סיסמאות נפוצות.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239077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משימה למתקדמים: Brute Force</a:t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5" y="2350300"/>
            <a:ext cx="6142675" cy="316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6381750" y="2350293"/>
            <a:ext cx="52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800" u="none" cap="none" strike="noStrike">
                <a:solidFill>
                  <a:srgbClr val="34D399"/>
                </a:solidFill>
                <a:latin typeface="Roboto Mono"/>
                <a:ea typeface="Roboto Mono"/>
                <a:cs typeface="Roboto Mono"/>
                <a:sym typeface="Roboto Mono"/>
              </a:rPr>
              <a:t>בואו נצפה בסל הקניות של מישהו אחר.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6381750" y="2750343"/>
            <a:ext cx="5038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Repeater מאפשר לנו לערוך ולשלוח מחדש בקשות בודדות.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6381750" y="3194149"/>
            <a:ext cx="4705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התחברו ל-Juice Shop וצפו בסל שלכם.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6381750" y="3637954"/>
            <a:ext cx="4705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מצאו את הבקשה ב-HTTP history (למשל, GET /rest/basket/1).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6381750" y="4404866"/>
            <a:ext cx="4705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שלחו אותה ל-Repeater (ע"י Ctrl+R).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6381750" y="4848671"/>
            <a:ext cx="47052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425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שנו את מספר מזהה הסל מ-1 ל-2 ובדקו אם אתם יכולים לראות סל של משתמש אחר (IDOR/BOLA).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11210925" y="3194149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11210925" y="4404866"/>
            <a:ext cx="2095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425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מעבדה 2: Authorization Bypass</a:t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128" y="2445200"/>
            <a:ext cx="5932635" cy="300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5" name="Google Shape;3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000" y="2191425"/>
            <a:ext cx="6335800" cy="33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6381750" y="2352972"/>
            <a:ext cx="529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800" u="none" cap="none" strike="noStrike">
                <a:solidFill>
                  <a:srgbClr val="34D399"/>
                </a:solidFill>
                <a:latin typeface="Roboto Mono"/>
                <a:ea typeface="Roboto Mono"/>
                <a:cs typeface="Roboto Mono"/>
                <a:sym typeface="Roboto Mono"/>
              </a:rPr>
              <a:t>המטרה: לפרסם ביקורת לקוח בשם אחר.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6381750" y="2753022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ההכנה: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6381750" y="3295947"/>
            <a:ext cx="4705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מלאו את טופס המשוב באתר באופן רגיל.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6381750" y="3821608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לפני השליחה, ודאו שב-Burp, בלשונית ה-Proxy -&gt; Intercept, היירוט מופעל.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6381750" y="4682430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שלחו את הטופס, והבקשה "תיתפס" באוויר לפני שהיא מגיעה לשרת.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11172825" y="3295947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11172825" y="3821608"/>
            <a:ext cx="2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8"/>
          <p:cNvSpPr txBox="1"/>
          <p:nvPr/>
        </p:nvSpPr>
        <p:spPr>
          <a:xfrm>
            <a:off x="11172825" y="4682430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315" name="Google Shape;315;p28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מעבדה 3: Auth Bypass ב-POST (שלב 1)</a:t>
            </a:r>
            <a:endParaRPr/>
          </a:p>
        </p:txBody>
      </p:sp>
      <p:sp>
        <p:nvSpPr>
          <p:cNvPr id="316" name="Google Shape;316;p28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075" y="2338175"/>
            <a:ext cx="6071875" cy="314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5" y="2503175"/>
            <a:ext cx="5849401" cy="3368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6381750" y="2323653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הביצוע: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6381750" y="2866578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שלחו את הבקשה שתפסתם אל ה-</a:t>
            </a: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Repeater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כדי שנוכל לשחק איתה.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6381750" y="3727400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בגוף הבקשה, שנו את הערך של UserId למספר אחר (למשל, 1 עבור המנהל).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6381750" y="4649985"/>
            <a:ext cx="47052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שלחו את הבקשה. קוד סטטוס 201 Created מעיד שהצלחנו לזייף את זהות השולח!</a:t>
            </a:r>
            <a:endParaRPr/>
          </a:p>
        </p:txBody>
      </p:sp>
      <p:sp>
        <p:nvSpPr>
          <p:cNvPr id="328" name="Google Shape;328;p29"/>
          <p:cNvSpPr txBox="1"/>
          <p:nvPr/>
        </p:nvSpPr>
        <p:spPr>
          <a:xfrm>
            <a:off x="11172825" y="2866578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329" name="Google Shape;329;p29"/>
          <p:cNvSpPr txBox="1"/>
          <p:nvPr/>
        </p:nvSpPr>
        <p:spPr>
          <a:xfrm>
            <a:off x="11172825" y="3727400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11172825" y="4649985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מעבדה 3: Auth Bypass ב-POST (שלב 2)</a:t>
            </a:r>
            <a:endParaRPr/>
          </a:p>
        </p:txBody>
      </p:sp>
      <p:sp>
        <p:nvSpPr>
          <p:cNvPr id="332" name="Google Shape;332;p29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275" y="2669849"/>
            <a:ext cx="5635778" cy="309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64159"/>
            <a:ext cx="5038725" cy="27677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564159"/>
            <a:ext cx="5038725" cy="276775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0"/>
          <p:cNvSpPr txBox="1"/>
          <p:nvPr/>
        </p:nvSpPr>
        <p:spPr>
          <a:xfrm>
            <a:off x="6772275" y="2954684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מה זה JWT?</a:t>
            </a:r>
            <a:endParaRPr/>
          </a:p>
        </p:txBody>
      </p:sp>
      <p:sp>
        <p:nvSpPr>
          <p:cNvPr id="342" name="Google Shape;342;p30"/>
          <p:cNvSpPr txBox="1"/>
          <p:nvPr/>
        </p:nvSpPr>
        <p:spPr>
          <a:xfrm>
            <a:off x="6772275" y="3497609"/>
            <a:ext cx="4257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JSON Web Token הוא כמו </a:t>
            </a: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צמיד כניסה לפסטיבל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6772275" y="3975645"/>
            <a:ext cx="4257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השרת נותן לכם "צמיד" ייחודי בעת התחברות. על הצמיד רשומים פרטים עליכם. המידע גלוי, אבל אי אפשר לזייף אותו בזכות החתימה הדיגיטלית שמאמתת את מקורו.</a:t>
            </a:r>
            <a:endParaRPr/>
          </a:p>
        </p:txBody>
      </p:sp>
      <p:sp>
        <p:nvSpPr>
          <p:cNvPr id="344" name="Google Shape;344;p30"/>
          <p:cNvSpPr txBox="1"/>
          <p:nvPr/>
        </p:nvSpPr>
        <p:spPr>
          <a:xfrm>
            <a:off x="1162050" y="2954684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מהי חנות ה-BApp?</a:t>
            </a:r>
            <a:endParaRPr/>
          </a:p>
        </p:txBody>
      </p:sp>
      <p:sp>
        <p:nvSpPr>
          <p:cNvPr id="345" name="Google Shape;345;p30"/>
          <p:cNvSpPr txBox="1"/>
          <p:nvPr/>
        </p:nvSpPr>
        <p:spPr>
          <a:xfrm>
            <a:off x="1162050" y="3497609"/>
            <a:ext cx="4257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כמו חנות האפליקציות בטלפון, אבל ל-Burp Suite.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1162050" y="3975645"/>
            <a:ext cx="4257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זוהי חנות מובנית בה אפשר להתקין הרחבות. במעבדה הבאה, נתקין תוסף בשם 'JWT Editor' שיעזור לנו לקרוא ולנתח את ה"צמידים" הללו בקלות.</a:t>
            </a:r>
            <a:endParaRPr/>
          </a:p>
        </p:txBody>
      </p:sp>
      <p:sp>
        <p:nvSpPr>
          <p:cNvPr id="347" name="Google Shape;347;p30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הכנה למעבדה 4: JWT וחנות ה-BApp</a:t>
            </a:r>
            <a:endParaRPr/>
          </a:p>
        </p:txBody>
      </p:sp>
      <p:sp>
        <p:nvSpPr>
          <p:cNvPr id="348" name="Google Shape;348;p30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300" y="4522600"/>
            <a:ext cx="11976150" cy="208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 txBox="1"/>
          <p:nvPr/>
        </p:nvSpPr>
        <p:spPr>
          <a:xfrm>
            <a:off x="6232675" y="1780472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נשתמש בתוסף שיעזור לנו לנתח את "תעודות הזהות" הדיגיטליות בצורה נוחה.</a:t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6232675" y="2736544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ההכנה:</a:t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6232675" y="3279469"/>
            <a:ext cx="50388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בתוך Burp, עברו ללשונית ה-Extender / BApp Store.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6232675" y="3757505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חפשו והתקינו את התוסף </a:t>
            </a: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JWT Editor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. הוא יוסיף לשונית חדשה לכלים כמו ה-Repeater.</a:t>
            </a:r>
            <a:endParaRPr/>
          </a:p>
        </p:txBody>
      </p:sp>
      <p:sp>
        <p:nvSpPr>
          <p:cNvPr id="359" name="Google Shape;359;p31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מעבדה 4: ניתוח JWT (שלב 1)</a:t>
            </a: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308" y="4658705"/>
            <a:ext cx="11885151" cy="1843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925" y="2016525"/>
            <a:ext cx="6143700" cy="419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 txBox="1"/>
          <p:nvPr/>
        </p:nvSpPr>
        <p:spPr>
          <a:xfrm>
            <a:off x="6381750" y="2517725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הניתוח: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6381750" y="3060650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לאחר התחברות לאתר, תפסו בקשה המכילה JWT ושלחו ל-Repeater.</a:t>
            </a:r>
            <a:endParaRPr/>
          </a:p>
        </p:txBody>
      </p:sp>
      <p:sp>
        <p:nvSpPr>
          <p:cNvPr id="370" name="Google Shape;370;p32"/>
          <p:cNvSpPr txBox="1"/>
          <p:nvPr/>
        </p:nvSpPr>
        <p:spPr>
          <a:xfrm>
            <a:off x="6381750" y="3873847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לשונית ה-</a:t>
            </a:r>
            <a:r>
              <a:rPr b="1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JSON Web Token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החדשה תציג את תוכן התעודה בצורה קריאה לחלוטין.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6381750" y="4687044"/>
            <a:ext cx="50388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iw" sz="1350" u="none" cap="none" strike="noStrike">
                <a:solidFill>
                  <a:srgbClr val="8B949E"/>
                </a:solidFill>
                <a:latin typeface="Assistant"/>
                <a:ea typeface="Assistant"/>
                <a:cs typeface="Assistant"/>
                <a:sym typeface="Assistant"/>
              </a:rPr>
              <a:t>שימו לב! לעתים מפתחים משאירים שם בטעות מידע רגיש, כמו סיסמה מוצפנת שאפשר לנסות לפצח.</a:t>
            </a:r>
            <a:endParaRPr/>
          </a:p>
        </p:txBody>
      </p:sp>
      <p:sp>
        <p:nvSpPr>
          <p:cNvPr id="372" name="Google Shape;372;p32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מעבדה 4: ניתוח JWT (שלב 2)</a:t>
            </a:r>
            <a:endParaRPr/>
          </a:p>
        </p:txBody>
      </p:sp>
      <p:sp>
        <p:nvSpPr>
          <p:cNvPr id="373" name="Google Shape;373;p32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471" y="2180424"/>
            <a:ext cx="5910276" cy="3863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79141"/>
            <a:ext cx="5038725" cy="353779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/>
        </p:nvSpPr>
        <p:spPr>
          <a:xfrm>
            <a:off x="6381750" y="2352823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מה זה Hash?</a:t>
            </a:r>
            <a:endParaRPr/>
          </a:p>
        </p:txBody>
      </p:sp>
      <p:sp>
        <p:nvSpPr>
          <p:cNvPr id="382" name="Google Shape;382;p33"/>
          <p:cNvSpPr txBox="1"/>
          <p:nvPr/>
        </p:nvSpPr>
        <p:spPr>
          <a:xfrm>
            <a:off x="6381750" y="2895748"/>
            <a:ext cx="5038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מצאנו סיסמה מוצפנת בתוך ה-JWT. Hash הוא פונקציה חד-כיוונית. חשבו על זה כמו להפוך פרה להמבורגר - קל להכין, בלתי אפשרי להפוך חזרה.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6381750" y="4186981"/>
            <a:ext cx="5290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איך מפצחים?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6381750" y="4729906"/>
            <a:ext cx="5038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אנחנו לא הופכים את התהליך. במקום זאת, לוקחים מילון ענק של סיסמאות נפוצות, הופכים אותן ל-Hash ומשווים.</a:t>
            </a:r>
            <a:endParaRPr/>
          </a:p>
        </p:txBody>
      </p:sp>
      <p:sp>
        <p:nvSpPr>
          <p:cNvPr id="385" name="Google Shape;385;p33"/>
          <p:cNvSpPr txBox="1"/>
          <p:nvPr/>
        </p:nvSpPr>
        <p:spPr>
          <a:xfrm>
            <a:off x="1162050" y="2569666"/>
            <a:ext cx="44706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225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המשימה שלכם:</a:t>
            </a:r>
            <a:endParaRPr/>
          </a:p>
        </p:txBody>
      </p:sp>
      <p:sp>
        <p:nvSpPr>
          <p:cNvPr id="386" name="Google Shape;386;p33"/>
          <p:cNvSpPr txBox="1"/>
          <p:nvPr/>
        </p:nvSpPr>
        <p:spPr>
          <a:xfrm>
            <a:off x="1162050" y="3112591"/>
            <a:ext cx="4257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העתיקו את ה-Hash של הסיסמה מה-JWT שמצאתם.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1162050" y="3590627"/>
            <a:ext cx="4257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הדביקו אותו בכלי אונליין לפיצוח סיסמאות המכיל מאגרי Rainbow Tables ענקיים.</a:t>
            </a:r>
            <a:endParaRPr/>
          </a:p>
        </p:txBody>
      </p:sp>
      <p:sp>
        <p:nvSpPr>
          <p:cNvPr id="388" name="Google Shape;388;p33"/>
          <p:cNvSpPr txBox="1"/>
          <p:nvPr/>
        </p:nvSpPr>
        <p:spPr>
          <a:xfrm>
            <a:off x="1162050" y="4451449"/>
            <a:ext cx="4257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מומלץ להשתמש ב-</a:t>
            </a:r>
            <a:r>
              <a:rPr b="0" i="0" lang="iw" sz="1650" u="none" cap="none" strike="noStrike">
                <a:solidFill>
                  <a:srgbClr val="34D399"/>
                </a:solidFill>
                <a:latin typeface="Assistant"/>
                <a:ea typeface="Assistant"/>
                <a:cs typeface="Assistant"/>
                <a:sym typeface="Assistant"/>
              </a:rPr>
              <a:t>CrackStation.net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ולגלות מהי הסיסמה המקורית!</a:t>
            </a:r>
            <a:endParaRPr/>
          </a:p>
        </p:txBody>
      </p:sp>
      <p:sp>
        <p:nvSpPr>
          <p:cNvPr id="389" name="Google Shape;389;p33"/>
          <p:cNvSpPr txBox="1"/>
          <p:nvPr/>
        </p:nvSpPr>
        <p:spPr>
          <a:xfrm>
            <a:off x="239077" y="581025"/>
            <a:ext cx="1118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31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מעבדה 4: פיצוח הסיסמה (שלב 3)</a:t>
            </a:r>
            <a:endParaRPr/>
          </a:p>
        </p:txBody>
      </p:sp>
      <p:sp>
        <p:nvSpPr>
          <p:cNvPr id="390" name="Google Shape;390;p33"/>
          <p:cNvSpPr/>
          <p:nvPr/>
        </p:nvSpPr>
        <p:spPr>
          <a:xfrm>
            <a:off x="771525" y="1219200"/>
            <a:ext cx="10648950" cy="19050"/>
          </a:xfrm>
          <a:prstGeom prst="rect">
            <a:avLst/>
          </a:prstGeom>
          <a:solidFill>
            <a:srgbClr val="00F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5" name="Google Shape;39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5025" y="2892025"/>
            <a:ext cx="1627300" cy="1705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505301" y="876597"/>
            <a:ext cx="11181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540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שאלות? ותודה רבה!</a:t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771525" y="2067222"/>
            <a:ext cx="10649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" sz="19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נשמח לקבל את המשוב שלכם על הסדנה בסריקת הברקוד.</a:t>
            </a:r>
            <a:endParaRPr/>
          </a:p>
        </p:txBody>
      </p:sp>
      <p:sp>
        <p:nvSpPr>
          <p:cNvPr id="399" name="Google Shape;399;p34"/>
          <p:cNvSpPr txBox="1"/>
          <p:nvPr/>
        </p:nvSpPr>
        <p:spPr>
          <a:xfrm>
            <a:off x="771525" y="4901803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אקדמיית PortSwigger: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portswigger.net/web-security</a:t>
            </a: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771525" y="5393977"/>
            <a:ext cx="10649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רשימת OWASP Top 10:</a:t>
            </a:r>
            <a:r>
              <a:rPr b="0" i="0" lang="iw" sz="1650" u="none" cap="none" strike="noStrike">
                <a:solidFill>
                  <a:srgbClr val="C9D1D9"/>
                </a:solidFill>
                <a:latin typeface="Assistant"/>
                <a:ea typeface="Assistant"/>
                <a:cs typeface="Assistant"/>
                <a:sym typeface="Assistant"/>
              </a:rPr>
              <a:t> owasp.org/www-project-top-ten</a:t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11506200" y="4901803"/>
            <a:ext cx="2476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" sz="1650" u="none" cap="none" strike="noStrike">
                <a:solidFill>
                  <a:srgbClr val="00FF41"/>
                </a:solidFill>
                <a:latin typeface="Roboto Mono"/>
                <a:ea typeface="Roboto Mono"/>
                <a:cs typeface="Roboto Mono"/>
                <a:sym typeface="Roboto Mono"/>
              </a:rPr>
              <a:t>&gt;&gt;</a:t>
            </a:r>
            <a:endParaRPr/>
          </a:p>
        </p:txBody>
      </p:sp>
      <p:sp>
        <p:nvSpPr>
          <p:cNvPr id="402" name="Google Shape;402;p34"/>
          <p:cNvSpPr txBox="1"/>
          <p:nvPr/>
        </p:nvSpPr>
        <p:spPr>
          <a:xfrm>
            <a:off x="11506200" y="5393977"/>
            <a:ext cx="2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5025" y="2959675"/>
            <a:ext cx="15621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